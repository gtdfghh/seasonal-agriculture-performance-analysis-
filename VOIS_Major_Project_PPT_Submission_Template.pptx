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933492" cy="861497"/>
          </a:xfrm>
        </p:spPr>
        <p:txBody>
          <a:bodyPr vert="horz" lIns="91440" tIns="45720" rIns="91440" bIns="45720" rtlCol="0" anchor="t">
            <a:normAutofit/>
          </a:bodyPr>
          <a:lstStyle/>
          <a:p>
            <a:pPr algn="r"/>
            <a:r>
              <a:rPr lang="en-US" b="0" dirty="0" err="1">
                <a:solidFill>
                  <a:schemeClr val="tx1"/>
                </a:solidFill>
              </a:rPr>
              <a:t>Joshal</a:t>
            </a:r>
            <a:r>
              <a:rPr lang="en-US" b="0" dirty="0">
                <a:solidFill>
                  <a:schemeClr val="tx1"/>
                </a:solidFill>
              </a:rPr>
              <a:t> Fernandes</a:t>
            </a:r>
          </a:p>
          <a:p>
            <a:pPr algn="r"/>
            <a:r>
              <a:rPr lang="en-US" b="0" dirty="0">
                <a:solidFill>
                  <a:schemeClr val="tx1"/>
                </a:solidFill>
              </a:rPr>
              <a:t>Mangalore Institute of Technology &amp;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6667" y="395768"/>
            <a:ext cx="8792207" cy="743448"/>
          </a:xfrm>
        </p:spPr>
        <p:txBody>
          <a:bodyPr>
            <a:normAutofit fontScale="90000"/>
          </a:bodyPr>
          <a:lstStyle/>
          <a:p>
            <a:r>
              <a:rPr lang="en-GB" sz="3200" dirty="0"/>
              <a:t>Project Title -</a:t>
            </a:r>
            <a:r>
              <a:rPr lang="en-IN"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95943" y="4576469"/>
            <a:ext cx="5402423" cy="369332"/>
          </a:xfrm>
          <a:prstGeom prst="rect">
            <a:avLst/>
          </a:prstGeom>
          <a:noFill/>
        </p:spPr>
        <p:txBody>
          <a:bodyPr wrap="square" rtlCol="0">
            <a:spAutoFit/>
          </a:bodyPr>
          <a:lstStyle/>
          <a:p>
            <a:r>
              <a:rPr lang="en-US" b="1" dirty="0"/>
              <a:t>AICTE STU ID : </a:t>
            </a:r>
            <a:r>
              <a:rPr lang="en-IN" dirty="0"/>
              <a:t>STU676c00dee8b631735131358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200" b="0" dirty="0" err="1"/>
              <a:t>Analyzed</a:t>
            </a:r>
            <a:r>
              <a:rPr lang="en-IN" sz="2200" b="0" dirty="0"/>
              <a:t> agricultural data across different seasons to identify patterns, trends, and variations in agricultural performance. Cleaned and prepared the dataset, performed statistical analysis, and created visualizations to compare seasonal outcomes. Derived data-driven insights and recommendations to support better agricultural planning.</a:t>
            </a:r>
            <a:br>
              <a:rPr lang="en-IN" sz="2200" b="0" dirty="0"/>
            </a:br>
            <a:br>
              <a:rPr lang="en-GB" sz="2200" b="0" dirty="0"/>
            </a:br>
            <a:endParaRPr lang="en-IN" sz="22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Farmers</a:t>
            </a:r>
            <a:r>
              <a:rPr lang="en-IN" sz="3600" dirty="0"/>
              <a:t> – to understand seasonal performance and improve farming decisions. </a:t>
            </a:r>
          </a:p>
          <a:p>
            <a:pPr lvl="0"/>
            <a:r>
              <a:rPr lang="en-IN" sz="3600" b="1" dirty="0"/>
              <a:t>Agricultural planners</a:t>
            </a:r>
            <a:r>
              <a:rPr lang="en-IN" sz="3600" dirty="0"/>
              <a:t> – to support seasonal agricultural planning. </a:t>
            </a:r>
          </a:p>
          <a:p>
            <a:pPr lvl="0"/>
            <a:r>
              <a:rPr lang="en-IN" sz="3600" b="1" dirty="0"/>
              <a:t>Agricultural researchers</a:t>
            </a:r>
            <a:r>
              <a:rPr lang="en-IN" sz="3600" dirty="0"/>
              <a:t> – to study seasonal patterns and trends. </a:t>
            </a:r>
          </a:p>
          <a:p>
            <a:pPr lvl="0"/>
            <a:r>
              <a:rPr lang="en-IN" sz="3600" b="1" dirty="0"/>
              <a:t>Government/agricultural organizations</a:t>
            </a:r>
            <a:r>
              <a:rPr lang="en-IN" sz="3600" dirty="0"/>
              <a:t> – to support evidence-based decision-making and resource planning. </a:t>
            </a:r>
          </a:p>
          <a:p>
            <a:pPr lvl="0"/>
            <a:r>
              <a:rPr lang="en-IN" sz="3600" b="1" dirty="0"/>
              <a:t>Agricultural analysts</a:t>
            </a:r>
            <a:r>
              <a:rPr lang="en-IN" sz="3600" dirty="0"/>
              <a:t> – to </a:t>
            </a:r>
            <a:r>
              <a:rPr lang="en-IN" sz="3600" dirty="0" err="1"/>
              <a:t>analyze</a:t>
            </a:r>
            <a:r>
              <a:rPr lang="en-IN" sz="3600" dirty="0"/>
              <a:t> crop, resource, environmental, and economic performance.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00000"/>
              </a:lnSpc>
            </a:pPr>
            <a:r>
              <a:rPr lang="en-IN" dirty="0"/>
              <a:t>Python</a:t>
            </a:r>
          </a:p>
          <a:p>
            <a:pPr lvl="1">
              <a:lnSpc>
                <a:spcPct val="100000"/>
              </a:lnSpc>
            </a:pPr>
            <a:r>
              <a:rPr lang="en-IN" dirty="0"/>
              <a:t>Google </a:t>
            </a:r>
            <a:r>
              <a:rPr lang="en-IN" dirty="0" err="1"/>
              <a:t>Colab</a:t>
            </a:r>
            <a:endParaRPr lang="en-IN" dirty="0"/>
          </a:p>
          <a:p>
            <a:pPr lvl="1">
              <a:lnSpc>
                <a:spcPct val="100000"/>
              </a:lnSpc>
            </a:pPr>
            <a:r>
              <a:rPr lang="en-IN" dirty="0"/>
              <a:t>Pandas</a:t>
            </a:r>
          </a:p>
          <a:p>
            <a:pPr lvl="1">
              <a:lnSpc>
                <a:spcPct val="100000"/>
              </a:lnSpc>
            </a:pPr>
            <a:r>
              <a:rPr lang="en-IN" dirty="0"/>
              <a:t>NumPy</a:t>
            </a:r>
          </a:p>
          <a:p>
            <a:pPr lvl="1">
              <a:lnSpc>
                <a:spcPct val="100000"/>
              </a:lnSpc>
            </a:pPr>
            <a:r>
              <a:rPr lang="en-IN" dirty="0"/>
              <a:t>Matplotlib</a:t>
            </a:r>
          </a:p>
          <a:p>
            <a:pPr lvl="1">
              <a:lnSpc>
                <a:spcPct val="100000"/>
              </a:lnSpc>
            </a:pPr>
            <a:r>
              <a:rPr lang="en-IN"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fade">
                                      <p:cBhvr>
                                        <p:cTn id="26" dur="1000"/>
                                        <p:tgtEl>
                                          <p:spTgt spid="7">
                                            <p:txEl>
                                              <p:pRg st="2" end="2"/>
                                            </p:txEl>
                                          </p:spTgt>
                                        </p:tgtEl>
                                      </p:cBhvr>
                                    </p:animEffect>
                                    <p:anim calcmode="lin" valueType="num">
                                      <p:cBhvr>
                                        <p:cTn id="27"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1000"/>
                                        <p:tgtEl>
                                          <p:spTgt spid="7">
                                            <p:txEl>
                                              <p:pRg st="3" end="3"/>
                                            </p:txEl>
                                          </p:spTgt>
                                        </p:tgtEl>
                                      </p:cBhvr>
                                    </p:animEffect>
                                    <p:anim calcmode="lin" valueType="num">
                                      <p:cBhvr>
                                        <p:cTn id="3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fade">
                                      <p:cBhvr>
                                        <p:cTn id="47" dur="1000"/>
                                        <p:tgtEl>
                                          <p:spTgt spid="7">
                                            <p:txEl>
                                              <p:pRg st="5" end="5"/>
                                            </p:txEl>
                                          </p:spTgt>
                                        </p:tgtEl>
                                      </p:cBhvr>
                                    </p:animEffect>
                                    <p:anim calcmode="lin" valueType="num">
                                      <p:cBhvr>
                                        <p:cTn id="4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10D4197-1D3B-2B61-E5A1-1BC4C6A95915}"/>
              </a:ext>
            </a:extLst>
          </p:cNvPr>
          <p:cNvPicPr>
            <a:picLocks noChangeAspect="1"/>
          </p:cNvPicPr>
          <p:nvPr/>
        </p:nvPicPr>
        <p:blipFill>
          <a:blip r:embed="rId3"/>
          <a:stretch>
            <a:fillRect/>
          </a:stretch>
        </p:blipFill>
        <p:spPr>
          <a:xfrm>
            <a:off x="102635" y="1201586"/>
            <a:ext cx="6096001" cy="3429000"/>
          </a:xfrm>
          <a:prstGeom prst="rect">
            <a:avLst/>
          </a:prstGeom>
        </p:spPr>
      </p:pic>
      <p:pic>
        <p:nvPicPr>
          <p:cNvPr id="9" name="Picture 8">
            <a:extLst>
              <a:ext uri="{FF2B5EF4-FFF2-40B4-BE49-F238E27FC236}">
                <a16:creationId xmlns:a16="http://schemas.microsoft.com/office/drawing/2014/main" id="{8666EE1C-95D6-54A8-3AD8-5D2941A1B1DE}"/>
              </a:ext>
            </a:extLst>
          </p:cNvPr>
          <p:cNvPicPr>
            <a:picLocks noChangeAspect="1"/>
          </p:cNvPicPr>
          <p:nvPr/>
        </p:nvPicPr>
        <p:blipFill>
          <a:blip r:embed="rId4"/>
          <a:stretch>
            <a:fillRect/>
          </a:stretch>
        </p:blipFill>
        <p:spPr>
          <a:xfrm>
            <a:off x="6198636" y="1201586"/>
            <a:ext cx="5605415" cy="315304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1488B60-F4A0-6D12-D89A-53E06957282C}"/>
              </a:ext>
            </a:extLst>
          </p:cNvPr>
          <p:cNvPicPr>
            <a:picLocks noChangeAspect="1"/>
          </p:cNvPicPr>
          <p:nvPr/>
        </p:nvPicPr>
        <p:blipFill>
          <a:blip r:embed="rId3"/>
          <a:stretch>
            <a:fillRect/>
          </a:stretch>
        </p:blipFill>
        <p:spPr>
          <a:xfrm>
            <a:off x="215641" y="1201586"/>
            <a:ext cx="6883917" cy="3872203"/>
          </a:xfrm>
          <a:prstGeom prst="rect">
            <a:avLst/>
          </a:prstGeom>
        </p:spPr>
      </p:pic>
      <p:pic>
        <p:nvPicPr>
          <p:cNvPr id="9" name="Picture 8">
            <a:extLst>
              <a:ext uri="{FF2B5EF4-FFF2-40B4-BE49-F238E27FC236}">
                <a16:creationId xmlns:a16="http://schemas.microsoft.com/office/drawing/2014/main" id="{5931C34E-D286-7C47-012E-D14A0CA11430}"/>
              </a:ext>
            </a:extLst>
          </p:cNvPr>
          <p:cNvPicPr>
            <a:picLocks noChangeAspect="1"/>
          </p:cNvPicPr>
          <p:nvPr/>
        </p:nvPicPr>
        <p:blipFill>
          <a:blip r:embed="rId4"/>
          <a:stretch>
            <a:fillRect/>
          </a:stretch>
        </p:blipFill>
        <p:spPr>
          <a:xfrm>
            <a:off x="7109700" y="1201586"/>
            <a:ext cx="4992914" cy="366899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3076357-5B75-C4BA-C110-DB6F66E596CE}"/>
              </a:ext>
            </a:extLst>
          </p:cNvPr>
          <p:cNvPicPr>
            <a:picLocks noChangeAspect="1"/>
          </p:cNvPicPr>
          <p:nvPr/>
        </p:nvPicPr>
        <p:blipFill>
          <a:blip r:embed="rId3"/>
          <a:stretch>
            <a:fillRect/>
          </a:stretch>
        </p:blipFill>
        <p:spPr>
          <a:xfrm>
            <a:off x="165783" y="1480080"/>
            <a:ext cx="6166592" cy="3468708"/>
          </a:xfrm>
          <a:prstGeom prst="rect">
            <a:avLst/>
          </a:prstGeom>
        </p:spPr>
      </p:pic>
      <p:pic>
        <p:nvPicPr>
          <p:cNvPr id="9" name="Picture 8">
            <a:extLst>
              <a:ext uri="{FF2B5EF4-FFF2-40B4-BE49-F238E27FC236}">
                <a16:creationId xmlns:a16="http://schemas.microsoft.com/office/drawing/2014/main" id="{3768C41D-3F76-FA43-4623-D4094A778DEF}"/>
              </a:ext>
            </a:extLst>
          </p:cNvPr>
          <p:cNvPicPr>
            <a:picLocks noChangeAspect="1"/>
          </p:cNvPicPr>
          <p:nvPr/>
        </p:nvPicPr>
        <p:blipFill>
          <a:blip r:embed="rId4"/>
          <a:stretch>
            <a:fillRect/>
          </a:stretch>
        </p:blipFill>
        <p:spPr>
          <a:xfrm>
            <a:off x="6487574" y="1608410"/>
            <a:ext cx="5191968" cy="292048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7410435-6BCD-6907-4A64-85572822F9E4}"/>
              </a:ext>
            </a:extLst>
          </p:cNvPr>
          <p:cNvPicPr>
            <a:picLocks noChangeAspect="1"/>
          </p:cNvPicPr>
          <p:nvPr/>
        </p:nvPicPr>
        <p:blipFill>
          <a:blip r:embed="rId3"/>
          <a:stretch>
            <a:fillRect/>
          </a:stretch>
        </p:blipFill>
        <p:spPr>
          <a:xfrm>
            <a:off x="0" y="1275371"/>
            <a:ext cx="6782269" cy="3815026"/>
          </a:xfrm>
          <a:prstGeom prst="rect">
            <a:avLst/>
          </a:prstGeom>
        </p:spPr>
      </p:pic>
      <p:pic>
        <p:nvPicPr>
          <p:cNvPr id="9" name="Picture 8">
            <a:extLst>
              <a:ext uri="{FF2B5EF4-FFF2-40B4-BE49-F238E27FC236}">
                <a16:creationId xmlns:a16="http://schemas.microsoft.com/office/drawing/2014/main" id="{93322FE2-64F3-D82E-FD2E-93F466C526B7}"/>
              </a:ext>
            </a:extLst>
          </p:cNvPr>
          <p:cNvPicPr>
            <a:picLocks noChangeAspect="1"/>
          </p:cNvPicPr>
          <p:nvPr/>
        </p:nvPicPr>
        <p:blipFill>
          <a:blip r:embed="rId4"/>
          <a:stretch>
            <a:fillRect/>
          </a:stretch>
        </p:blipFill>
        <p:spPr>
          <a:xfrm>
            <a:off x="6782269" y="1275371"/>
            <a:ext cx="5170245" cy="329370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EA47AEA-8F14-2D0F-5B1D-CB7BBC292367}"/>
              </a:ext>
            </a:extLst>
          </p:cNvPr>
          <p:cNvPicPr>
            <a:picLocks noChangeAspect="1"/>
          </p:cNvPicPr>
          <p:nvPr/>
        </p:nvPicPr>
        <p:blipFill>
          <a:blip r:embed="rId3"/>
          <a:stretch>
            <a:fillRect/>
          </a:stretch>
        </p:blipFill>
        <p:spPr>
          <a:xfrm>
            <a:off x="250888" y="1275371"/>
            <a:ext cx="6585339" cy="3704253"/>
          </a:xfrm>
          <a:prstGeom prst="rect">
            <a:avLst/>
          </a:prstGeom>
        </p:spPr>
      </p:pic>
      <p:pic>
        <p:nvPicPr>
          <p:cNvPr id="9" name="Picture 8">
            <a:extLst>
              <a:ext uri="{FF2B5EF4-FFF2-40B4-BE49-F238E27FC236}">
                <a16:creationId xmlns:a16="http://schemas.microsoft.com/office/drawing/2014/main" id="{9C6EAFA7-B9B4-00A8-1DFD-7BB3ADDE3993}"/>
              </a:ext>
            </a:extLst>
          </p:cNvPr>
          <p:cNvPicPr>
            <a:picLocks noChangeAspect="1"/>
          </p:cNvPicPr>
          <p:nvPr/>
        </p:nvPicPr>
        <p:blipFill>
          <a:blip r:embed="rId4"/>
          <a:stretch>
            <a:fillRect/>
          </a:stretch>
        </p:blipFill>
        <p:spPr>
          <a:xfrm>
            <a:off x="6721151" y="1431693"/>
            <a:ext cx="5219962" cy="321906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36EB-07A5-F2A1-3A29-E257B9F3F34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E4F7DC-7E56-127B-0024-E545BB35DFF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527DCC3-C417-2782-AC6C-46912B92D30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92F3827-DE74-659E-747D-06666C4E2EB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7AE4BEF-A95D-950B-A8AA-491AEF24792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7A7D913-0EE5-28D8-ED58-BAA47D2D5A1E}"/>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D1F13C4A-42AC-9DE0-5369-0D6881E91018}"/>
              </a:ext>
            </a:extLst>
          </p:cNvPr>
          <p:cNvPicPr>
            <a:picLocks noChangeAspect="1"/>
          </p:cNvPicPr>
          <p:nvPr/>
        </p:nvPicPr>
        <p:blipFill>
          <a:blip r:embed="rId3"/>
          <a:stretch>
            <a:fillRect/>
          </a:stretch>
        </p:blipFill>
        <p:spPr>
          <a:xfrm>
            <a:off x="0" y="1201586"/>
            <a:ext cx="6798907" cy="3824385"/>
          </a:xfrm>
          <a:prstGeom prst="rect">
            <a:avLst/>
          </a:prstGeom>
        </p:spPr>
      </p:pic>
      <p:pic>
        <p:nvPicPr>
          <p:cNvPr id="12" name="Picture 11">
            <a:extLst>
              <a:ext uri="{FF2B5EF4-FFF2-40B4-BE49-F238E27FC236}">
                <a16:creationId xmlns:a16="http://schemas.microsoft.com/office/drawing/2014/main" id="{C0989F72-6762-DEC7-C58B-0B223597F431}"/>
              </a:ext>
            </a:extLst>
          </p:cNvPr>
          <p:cNvPicPr>
            <a:picLocks noChangeAspect="1"/>
          </p:cNvPicPr>
          <p:nvPr/>
        </p:nvPicPr>
        <p:blipFill>
          <a:blip r:embed="rId4"/>
          <a:stretch>
            <a:fillRect/>
          </a:stretch>
        </p:blipFill>
        <p:spPr>
          <a:xfrm>
            <a:off x="6976188" y="1293187"/>
            <a:ext cx="4894829" cy="3641181"/>
          </a:xfrm>
          <a:prstGeom prst="rect">
            <a:avLst/>
          </a:prstGeom>
        </p:spPr>
      </p:pic>
    </p:spTree>
    <p:extLst>
      <p:ext uri="{BB962C8B-B14F-4D97-AF65-F5344CB8AC3E}">
        <p14:creationId xmlns:p14="http://schemas.microsoft.com/office/powerpoint/2010/main" val="123229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8822606" cy="830997"/>
          </a:xfrm>
        </p:spPr>
        <p:txBody>
          <a:bodyPr>
            <a:normAutofit fontScale="90000"/>
          </a:bodyPr>
          <a:lstStyle/>
          <a:p>
            <a:pPr lvl="0"/>
            <a:r>
              <a:rPr lang="en-IN" sz="4000" dirty="0"/>
              <a:t>Future scope</a:t>
            </a:r>
            <a:br>
              <a:rPr lang="en-IN" sz="4000" dirty="0"/>
            </a:br>
            <a:br>
              <a:rPr lang="en-IN" sz="4000" dirty="0"/>
            </a:br>
            <a:r>
              <a:rPr lang="en-IN" sz="2200" b="0" dirty="0"/>
              <a:t>Develop predictive models to forecast agricultural performance for upcoming seasons. </a:t>
            </a:r>
            <a:br>
              <a:rPr lang="en-IN" sz="2200" b="0" dirty="0"/>
            </a:br>
            <a:r>
              <a:rPr lang="en-IN" sz="2200" b="0" dirty="0" err="1"/>
              <a:t>Analyze</a:t>
            </a:r>
            <a:r>
              <a:rPr lang="en-IN" sz="2200" b="0" dirty="0"/>
              <a:t> regional and crop-specific trends in greater detail. </a:t>
            </a:r>
            <a:br>
              <a:rPr lang="en-IN" sz="2200" b="0" dirty="0"/>
            </a:br>
            <a:r>
              <a:rPr lang="en-IN" sz="2200" b="0" dirty="0"/>
              <a:t>Integrate real-time weather and environmental data for better analysis. </a:t>
            </a:r>
            <a:br>
              <a:rPr lang="en-IN" sz="2200" b="0" dirty="0"/>
            </a:br>
            <a:r>
              <a:rPr lang="en-IN" sz="2200" b="0" dirty="0"/>
              <a:t>Build an interactive dashboard for farmers and agricultural planners. </a:t>
            </a:r>
            <a:br>
              <a:rPr lang="en-IN" sz="2200" b="0" dirty="0"/>
            </a:br>
            <a:r>
              <a:rPr lang="en-IN" sz="2200" b="0" dirty="0"/>
              <a:t>Use the insights to support better resource allocation and seasonal planning.</a:t>
            </a: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925222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a:t>https://github.com/Gtdfghh/Seasonal-Agriculture-Performance-Analysis-.git</a:t>
            </a:r>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BC41AE8-F10B-DCE1-9F00-35D62ADB628F}"/>
              </a:ext>
            </a:extLst>
          </p:cNvPr>
          <p:cNvPicPr>
            <a:picLocks noChangeAspect="1"/>
          </p:cNvPicPr>
          <p:nvPr/>
        </p:nvPicPr>
        <p:blipFill>
          <a:blip r:embed="rId3"/>
          <a:stretch>
            <a:fillRect/>
          </a:stretch>
        </p:blipFill>
        <p:spPr>
          <a:xfrm>
            <a:off x="1881948" y="1835219"/>
            <a:ext cx="6226080" cy="43818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5789" y="207935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654</TotalTime>
  <Words>382</Words>
  <Application>Microsoft Office PowerPoint</Application>
  <PresentationFormat>Widescreen</PresentationFormat>
  <Paragraphs>40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Analyzed agricultural data across different seasons to identify patterns, trends, and variations in agricultural performance. Cleaned and prepared the dataset, performed statistical analysis, and created visualizations to compare seasonal outcomes. Derived data-driven insights and recommendations to support better agricultural planning.  </vt:lpstr>
      <vt:lpstr>WHO ARE THE END USERS?</vt:lpstr>
      <vt:lpstr>Technology Used</vt:lpstr>
      <vt:lpstr>RESULTS </vt:lpstr>
      <vt:lpstr>RESULTS </vt:lpstr>
      <vt:lpstr>RESULTS </vt:lpstr>
      <vt:lpstr>RESULTS </vt:lpstr>
      <vt:lpstr>RESULTS </vt:lpstr>
      <vt:lpstr>RESULTS </vt:lpstr>
      <vt:lpstr>Future scope  Develop predictive models to forecast agricultural performance for upcoming seasons.  Analyze regional and crop-specific trends in greater detail.  Integrate real-time weather and environmental data for better analysis.  Build an interactive dashboard for farmers and agricultural planners.  Use the insights to support better resource allocation and seasonal planning.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joshnimdb@outlook.com</cp:lastModifiedBy>
  <cp:revision>105</cp:revision>
  <dcterms:created xsi:type="dcterms:W3CDTF">2021-07-11T13:13:15Z</dcterms:created>
  <dcterms:modified xsi:type="dcterms:W3CDTF">2026-09-07T06:08:23Z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